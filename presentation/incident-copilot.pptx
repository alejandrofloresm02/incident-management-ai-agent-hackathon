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03520" cy="68580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4754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Copilot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Management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33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Copilot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Local-first AI for on-call engineers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 4   ·   TCS AI Friday Hackathon   ·   May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0" y="1554480"/>
            <a:ext cx="4114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0" y="1847088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19288" y="184708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6176" y="184708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8105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incident-copilot.app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43800" y="2267712"/>
            <a:ext cx="40233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agent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469880" y="263347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52760" y="25146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18120" y="3063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store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469880" y="318211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52760" y="30632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indexing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18120" y="3611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469880" y="373075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52760" y="36118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18120" y="4160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 (Ollama)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469880" y="427939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52760" y="41605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818120" y="48006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8120" y="4800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v0.1.0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281160" y="4800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 · zero-cloud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" cy="16459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Copilot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0" y="292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PROBLEM   ·   2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on-call tax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On-call engineers spend 30–60 minutes per ticket re-deriving context that already exists.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0332" y="246888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6092" y="288036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" y="28803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6092" y="33832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fragmentation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6092" y="416052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Logs, dashboards, runbooks, and Slack threads scattered across systems with no single pane of glass.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74820" y="246888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40580" y="288036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0580" y="28803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40580" y="33832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 blindness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40580" y="416052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"Didn't we see this last quarter?" — but no fast way to surface the resolved ticket that already has the fix.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79308" y="246888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45068" y="288036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5068" y="28803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45068" y="33832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RCA fatigue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545068" y="416052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Engineers skip or rush root-cause analysis. Recurring failure modes go uncaptured and the cycle repeats.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" cy="16459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Copilot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0" y="292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   ·   3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at a glance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endpoint. Local models. Deterministic agent.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4114800"/>
          </a:xfrm>
          <a:prstGeom prst="roundRect">
            <a:avLst>
              <a:gd name="adj" fmla="val 3556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749040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33272" y="389534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33272" y="429768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 + TypeScript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03320" y="374904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67912" y="389534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67912" y="429768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/incident/analyze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374904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85432" y="389534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85432" y="429768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LangGraph DAG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01200" y="260604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765792" y="275234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Ollama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65792" y="315468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Qwen 2.5 Coder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01200" y="493776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765792" y="508406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ChromaDB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65792" y="548640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GTE-Large embeddings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534924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31152" y="549554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data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31152" y="589788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JSONL ingest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71800" y="4297680"/>
            <a:ext cx="731520" cy="0"/>
          </a:xfrm>
          <a:prstGeom prst="line">
            <a:avLst/>
          </a:prstGeom>
          <a:noFill/>
          <a:ln w="15875">
            <a:solidFill>
              <a:srgbClr val="9333E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989320" y="4297680"/>
            <a:ext cx="731520" cy="0"/>
          </a:xfrm>
          <a:prstGeom prst="line">
            <a:avLst/>
          </a:prstGeom>
          <a:noFill/>
          <a:ln w="15875">
            <a:solidFill>
              <a:srgbClr val="9333E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915400" y="4114800"/>
            <a:ext cx="685800" cy="-960120"/>
          </a:xfrm>
          <a:prstGeom prst="line">
            <a:avLst/>
          </a:prstGeom>
          <a:noFill/>
          <a:ln w="15875">
            <a:solidFill>
              <a:srgbClr val="9333E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915400" y="4526280"/>
            <a:ext cx="685800" cy="822960"/>
          </a:xfrm>
          <a:prstGeom prst="line">
            <a:avLst/>
          </a:prstGeom>
          <a:noFill/>
          <a:ln w="15875">
            <a:solidFill>
              <a:srgbClr val="9333E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818120" y="5349240"/>
            <a:ext cx="0" cy="-502920"/>
          </a:xfrm>
          <a:prstGeom prst="line">
            <a:avLst/>
          </a:prstGeom>
          <a:noFill/>
          <a:ln w="15875">
            <a:solidFill>
              <a:srgbClr val="9333E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" cy="16459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Copilot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0" y="292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 · AGENT GRAPH   ·   4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 DAG, not a chain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nodes. Two waves of parallelism. One join. ~50% faster wall-clock.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1247120" cy="3931920"/>
          </a:xfrm>
          <a:prstGeom prst="roundRect">
            <a:avLst>
              <a:gd name="adj" fmla="val 3721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27614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parallel · from START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0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7614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parallel · after retrieve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21040" y="2487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27614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fan-in · waits for all 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4840" y="2542032"/>
            <a:ext cx="0" cy="3063240"/>
          </a:xfrm>
          <a:prstGeom prst="line">
            <a:avLst/>
          </a:prstGeom>
          <a:noFill/>
          <a:ln w="6350">
            <a:solidFill>
              <a:srgbClr val="D4D4D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269480" y="2542032"/>
            <a:ext cx="0" cy="3063240"/>
          </a:xfrm>
          <a:prstGeom prst="line">
            <a:avLst/>
          </a:prstGeom>
          <a:noFill/>
          <a:ln w="6350">
            <a:solidFill>
              <a:srgbClr val="D4D4D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40080" y="3840480"/>
            <a:ext cx="731520" cy="73152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40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789920" y="38404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0" y="3840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0" y="324612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9333EA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86000" y="3246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summarize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86000" y="516636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9333EA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286000" y="5166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retrieve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74920" y="324612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9333EA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74920" y="3246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suggest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74920" y="516636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9333EA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74920" y="5166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rca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03920" y="3886200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9333EA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503920" y="3886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finalize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325880" y="4114800"/>
            <a:ext cx="960120" cy="-548640"/>
          </a:xfrm>
          <a:prstGeom prst="line">
            <a:avLst/>
          </a:prstGeom>
          <a:noFill/>
          <a:ln w="15875">
            <a:solidFill>
              <a:srgbClr val="9333E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325880" y="4297680"/>
            <a:ext cx="960120" cy="1188720"/>
          </a:xfrm>
          <a:prstGeom prst="line">
            <a:avLst/>
          </a:prstGeom>
          <a:noFill/>
          <a:ln w="15875">
            <a:solidFill>
              <a:srgbClr val="9333E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840480" y="5422392"/>
            <a:ext cx="1234440" cy="-1792224"/>
          </a:xfrm>
          <a:prstGeom prst="line">
            <a:avLst/>
          </a:prstGeom>
          <a:noFill/>
          <a:ln w="15875">
            <a:solidFill>
              <a:srgbClr val="9333E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840480" y="5486400"/>
            <a:ext cx="1234440" cy="0"/>
          </a:xfrm>
          <a:prstGeom prst="line">
            <a:avLst/>
          </a:prstGeom>
          <a:noFill/>
          <a:ln w="15875">
            <a:solidFill>
              <a:srgbClr val="9333E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840480" y="3566160"/>
            <a:ext cx="3886200" cy="0"/>
          </a:xfrm>
          <a:prstGeom prst="line">
            <a:avLst/>
          </a:prstGeom>
          <a:noFill/>
          <a:ln w="15875">
            <a:solidFill>
              <a:srgbClr val="9333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26680" y="3566160"/>
            <a:ext cx="0" cy="434340"/>
          </a:xfrm>
          <a:prstGeom prst="line">
            <a:avLst/>
          </a:prstGeom>
          <a:noFill/>
          <a:ln w="15875">
            <a:solidFill>
              <a:srgbClr val="9333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26680" y="4000500"/>
            <a:ext cx="777240" cy="0"/>
          </a:xfrm>
          <a:prstGeom prst="line">
            <a:avLst/>
          </a:prstGeom>
          <a:noFill/>
          <a:ln w="15875">
            <a:solidFill>
              <a:srgbClr val="9333E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629400" y="3694176"/>
            <a:ext cx="1874520" cy="480060"/>
          </a:xfrm>
          <a:prstGeom prst="line">
            <a:avLst/>
          </a:prstGeom>
          <a:noFill/>
          <a:ln w="15875">
            <a:solidFill>
              <a:srgbClr val="9333E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629400" y="5422392"/>
            <a:ext cx="1874520" cy="-1101852"/>
          </a:xfrm>
          <a:prstGeom prst="line">
            <a:avLst/>
          </a:prstGeom>
          <a:noFill/>
          <a:ln w="15875">
            <a:solidFill>
              <a:srgbClr val="9333E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195560" y="4206240"/>
            <a:ext cx="594360" cy="0"/>
          </a:xfrm>
          <a:prstGeom prst="line">
            <a:avLst/>
          </a:prstGeom>
          <a:noFill/>
          <a:ln w="15875">
            <a:solidFill>
              <a:srgbClr val="9333EA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6350">
            <a:solidFill>
              <a:srgbClr val="E4E4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WALL-CLOCK   </a:t>
            </a:r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15–30 s</a:t>
            </a:r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with the DAG    ·    </a:t>
            </a:r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30–60 s</a:t>
            </a:r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strict-linear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" cy="16459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Copilot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0" y="292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LOCAL   ·   5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Local-first by design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+ zero per-call cost + offline demo. Every model fits in 16 GB RAM.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0332" y="237744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6092" y="27432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" y="27432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PRIVACY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6092" y="32461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736092" y="44348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bytes leave the laptop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092" y="484632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data, internal logs, and stack traces stay local. No cloud LLM, no third-party retention.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74820" y="237744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0580" y="27432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0580" y="27432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40580" y="32461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4640580" y="44348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 call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0580" y="484632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API limits, no per-token billing, no quota anxiety. Engineers iterate without watching a meter.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79308" y="237744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45068" y="27432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5068" y="27432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OFFLINE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45068" y="32461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8545068" y="44348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available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45068" y="484632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on a flight, behind a firewall, or during a cloud-provider outage. The demo doesn't depend on the internet.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6263640"/>
            <a:ext cx="11247120" cy="411480"/>
          </a:xfrm>
          <a:prstGeom prst="roundRect">
            <a:avLst>
              <a:gd name="adj" fmla="val 17778"/>
            </a:avLst>
          </a:prstGeom>
          <a:solidFill>
            <a:srgbClr val="FAFAFA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   Ollama  ·  Qwen 2.5 Coder Instruct (4.7 GB)  ·  GTE-Large (358 MB)  ·  ChromaDB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" cy="16459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Copilot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0" y="292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 · ORCHESTRATION   ·   6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 for orchestration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Typed state, deterministic flow, native parallel branching.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61488"/>
            <a:ext cx="146304" cy="146304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651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Typed state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999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AgentState as a TypedDict — every node sees the same schema; mypy catches typos before runtime.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675888"/>
            <a:ext cx="146304" cy="146304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566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by design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9136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ReAct loop. Small local models can drop tool-call format mid-loop and freeze the demo.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4590288"/>
            <a:ext cx="146304" cy="146304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480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fan-out / fan-in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8280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add_edge supports list sources for joins. Parallel branches without manual sync code.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5504688"/>
            <a:ext cx="146304" cy="146304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394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output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57424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with_structured_output(RCA) returns a validated Pydantic object. No JSON regex.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52160" y="2286000"/>
            <a:ext cx="5852160" cy="4023360"/>
          </a:xfrm>
          <a:prstGeom prst="roundRect">
            <a:avLst>
              <a:gd name="adj" fmla="val 3182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52160" y="2286000"/>
            <a:ext cx="5852160" cy="457200"/>
          </a:xfrm>
          <a:prstGeom prst="rect">
            <a:avLst/>
          </a:prstGeom>
          <a:solidFill>
            <a:srgbClr val="27272A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2441448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244144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74536" y="244144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22860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agent/graph.py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2926080"/>
            <a:ext cx="51206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AgentState</a:t>
            </a:r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(TypedDict):
</a:t>
            </a:r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incident: Incident
</a:t>
            </a:r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summary: str
</a:t>
            </a:r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similar_incidents: list[RetrievalResult]
</a:t>
            </a:r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suggested_steps: list[str]
</a:t>
            </a:r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rca: RCA
</a:t>
            </a:r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confidence: float
</a:t>
            </a:r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trace: Annotated[list[TraceStep], add]
</a:t>
            </a:r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graph.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add_edge</a:t>
            </a:r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(START, 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"summarize"</a:t>
            </a:r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
</a:t>
            </a:r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graph.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add_edge</a:t>
            </a:r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(START, 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"retrieve"</a:t>
            </a:r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
</a:t>
            </a:r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graph.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add_edge</a:t>
            </a:r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["summarize", "suggest", "rca"]</a:t>
            </a:r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"finalize"</a:t>
            </a:r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" cy="16459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Copilot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0" y="292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 · STORAGE   ·   7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ChromaDB: zero infra, full power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Persists to a local directory, one-line LangChain integration, scores in [0, 1].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124712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560320"/>
          <a:ext cx="10698480" cy="3108960"/>
        </p:xfrm>
        <a:graphic>
          <a:graphicData uri="http://schemas.openxmlformats.org/drawingml/2006/table">
            <a:tbl>
              <a:tblPr/>
              <a:tblGrid>
                <a:gridCol w="2743200"/>
                <a:gridCol w="2788920"/>
                <a:gridCol w="2788920"/>
                <a:gridCol w="2788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9090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  Criterion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E22C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ChromaDB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909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Pinecone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909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FAISS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9090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  Setup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pip install. Done.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Account + API key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pip install. Done.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9090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  Persistence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Local directory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Managed cloud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Manual file management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9090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  LangChain integration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First-class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First-class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First-class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9090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  Local / offline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(cloud only)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9090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  Metadata + filtering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Built-in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Built-in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Decisive for a hackathon: zero infra, no account, no internet dependency for the demo.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" cy="16459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Copilot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0" y="292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  ·   8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of corpus = quality of retrieval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don't have real incidents — so we generate breadth without manual enumeration.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64008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606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Generation pipeline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200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49300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seeded with diversity dimensions (service, severity, symptom, time-of-day) — many incidents per dimension combo.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160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44531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Schema-check each record against the Incident Pydantic model. Spot-check a sample for plausibility.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5120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5074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 and index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541324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gte-large via Ollama embeds title + description + tags. ChromaDB persists the index to disk.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40880" y="2286000"/>
            <a:ext cx="46634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0" y="260604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2606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SAMPLE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915400" y="267919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257860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3063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Service HTTP 504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15200" y="3611880"/>
            <a:ext cx="411480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INC-2026-4821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4251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2480" y="4251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payment-service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4754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tags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12480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HTTP_504, traffic-spike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5257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12480" y="5257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Increased timeouts; rolled back release.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0" y="5760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rca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5760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Tight upstream timeouts + DB pool exhausted before autoscaling caught up.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" cy="16459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Copilot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0" y="292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RESPONSIBLE AI   ·   9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Copilot, not autopilot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layers of responsible-AI affordance — surfaced visibly in the UI.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0332" y="237744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6092" y="274320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" y="27432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6092" y="3246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Grounding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" y="3840480"/>
            <a:ext cx="548640" cy="36576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" y="4069080"/>
            <a:ext cx="2880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suggested step is derived from a retrieved past incident. Prompts explicitly instruct the model to cite retrievals; ungrounded answers fall back to a generic playbook with lower confidence.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74820" y="237744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0580" y="274320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0580" y="27432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0580" y="3246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Transparency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640580" y="3840480"/>
            <a:ext cx="548640" cy="36576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0580" y="4069080"/>
            <a:ext cx="2880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UI shows similarity scores next to each retrieval, the agent's confidence, and a per-node trace of what ran. Engineers can audit each claim before acting.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79308" y="237744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45068" y="274320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5068" y="27432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45068" y="3246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Friction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545068" y="3840480"/>
            <a:ext cx="548640" cy="36576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5068" y="4069080"/>
            <a:ext cx="2880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persistent "AI-generated, verify before acting" banner. The agent never executes anything — the engineer applies the fix. Confidence under 0.4 surfaces as a red warning.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hackathon brief grades responsible AI. These three layers are the answer.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" cy="16459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Copilot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0" y="292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ROADMAP   ·   10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this goes next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we'd build with another week — infrastructure, models, and agentic RAG.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8892" y="228600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" y="26517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4652" y="3337560"/>
            <a:ext cx="146304" cy="146304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8972" y="32461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GPU instance running vLLM — batched inference, 5–10× throughput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4652" y="4297680"/>
            <a:ext cx="146304" cy="146304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" y="42062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Managed vector store (Pinecone / Weaviate) once corpus exceeds ~1M incidents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" y="5257800"/>
            <a:ext cx="146304" cy="146304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" y="51663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SSE — summary tokens flow while RCA is still computing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29100" y="228600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9486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4860" y="26517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94860" y="3337560"/>
            <a:ext cx="146304" cy="146304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9180" y="32461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Fine-tune the generation model on the synthetic corpus + real resolved tickets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94860" y="4297680"/>
            <a:ext cx="146304" cy="146304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9180" y="42062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Cross-encoder re-ranker on top of embedding retrieval — boosts top-3 precision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94860" y="5257800"/>
            <a:ext cx="146304" cy="146304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9180" y="51663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 models per node — keep Qwen for RCA, smaller model for summarize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79308" y="228600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545068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5068" y="26517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AGENTIC RAG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45068" y="3337560"/>
            <a:ext cx="146304" cy="146304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19388" y="32461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Iterative retrieve → reflect → refine — when retrieval confidence is low, agent rewrites the query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545068" y="4297680"/>
            <a:ext cx="146304" cy="146304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19388" y="42062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Multi-step decomposition — split incident into symptom / service / time sub-queries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545068" y="5257800"/>
            <a:ext cx="146304" cy="146304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19388" y="51663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Tool-calling for live signals — current deploy status, error logs, dashboard metrics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03520" cy="68580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spc="1400" kern="0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457200" y="3749040"/>
            <a:ext cx="1280160" cy="54864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931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copilot, live.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512064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846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localhost:5173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0" y="1463040"/>
            <a:ext cx="4389120" cy="40233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89520" y="1755648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36408" y="175564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83296" y="175564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17190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60920" y="2176272"/>
            <a:ext cx="429768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SUMMARY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35240" y="26700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909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payments-api 5xx after deploy v1.18.5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3524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SIMILAR INCIDENTS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35240" y="3456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HIST-0042   0.84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3524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HIST-0119   0.71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3524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E22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35240" y="4498848"/>
            <a:ext cx="3749040" cy="164592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35240" y="4498848"/>
            <a:ext cx="2324405" cy="164592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4754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0.62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0" y="64465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4   ·   TCS AI Friday Hackathon   ·  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Incident Management AI Copilot</dc:title>
  <dc:subject>PptxGenJS Presentation</dc:subject>
  <dc:creator>Team 4 — TCS AI Friday Hackathon</dc:creator>
  <cp:lastModifiedBy>Team 4 — TCS AI Friday Hackathon</cp:lastModifiedBy>
  <cp:revision>1</cp:revision>
  <dcterms:created xsi:type="dcterms:W3CDTF">2026-05-08T23:28:01Z</dcterms:created>
  <dcterms:modified xsi:type="dcterms:W3CDTF">2026-05-08T23:28:01Z</dcterms:modified>
</cp:coreProperties>
</file>